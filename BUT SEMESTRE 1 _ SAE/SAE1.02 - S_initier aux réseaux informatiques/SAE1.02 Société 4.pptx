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embeddedFontLst>
    <p:embeddedFont>
      <p:font typeface="Raleway"/>
      <p:regular r:id="rId26"/>
      <p:bold r:id="rId27"/>
      <p:italic r:id="rId28"/>
      <p:boldItalic r:id="rId29"/>
    </p:embeddedFont>
    <p:embeddedFont>
      <p:font typeface="Lat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4B6E1F6-7C32-4D6B-9103-02199E98D151}">
  <a:tblStyle styleId="{44B6E1F6-7C32-4D6B-9103-02199E98D15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aleway-regular.fntdata"/><Relationship Id="rId25" Type="http://schemas.openxmlformats.org/officeDocument/2006/relationships/slide" Target="slides/slide19.xml"/><Relationship Id="rId28" Type="http://schemas.openxmlformats.org/officeDocument/2006/relationships/font" Target="fonts/Raleway-italic.fntdata"/><Relationship Id="rId27" Type="http://schemas.openxmlformats.org/officeDocument/2006/relationships/font" Target="fonts/Raleway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aleway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bold.fntdata"/><Relationship Id="rId30" Type="http://schemas.openxmlformats.org/officeDocument/2006/relationships/font" Target="fonts/Lato-regular.fntdata"/><Relationship Id="rId11" Type="http://schemas.openxmlformats.org/officeDocument/2006/relationships/slide" Target="slides/slide5.xml"/><Relationship Id="rId33" Type="http://schemas.openxmlformats.org/officeDocument/2006/relationships/font" Target="fonts/Lato-boldItalic.fntdata"/><Relationship Id="rId10" Type="http://schemas.openxmlformats.org/officeDocument/2006/relationships/slide" Target="slides/slide4.xml"/><Relationship Id="rId32" Type="http://schemas.openxmlformats.org/officeDocument/2006/relationships/font" Target="fonts/Lat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afc092064e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afc092064e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afc092064e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afc092064e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afc092064e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afc092064e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afc092064e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afc092064e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afc092064e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afc092064e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afc092064e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afc092064e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afc092064e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afc092064e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afc092064e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afc092064e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afc092064e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afc092064e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afc092064e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afc092064e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afc092064e_0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afc092064e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afc092064e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afc092064e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afc092064e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afc092064e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afc092064e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afc092064e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afc092064e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afc092064e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afc092064e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afc092064e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afc092064e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afc092064e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afc092064e_0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afc092064e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1068800" y="922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Arial"/>
                <a:ea typeface="Arial"/>
                <a:cs typeface="Arial"/>
                <a:sym typeface="Arial"/>
              </a:rPr>
              <a:t>SAE1.02 Société 4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S’initier au réseaux informatiques</a:t>
            </a:r>
            <a:endParaRPr/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4725" y="0"/>
            <a:ext cx="2277175" cy="227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7650" y="12833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Sommaire: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727650" y="1853850"/>
            <a:ext cx="3844500" cy="30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1.Gant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2.Matrice RACI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3.Recherche Matérielle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4.Draw.io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5.Maquette Cisco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6.Configuration VLAN, DNS, DHCP, ACL </a:t>
            </a:r>
            <a:r>
              <a:rPr lang="fr"/>
              <a:t>(Cisco)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7.Ping (Cisco)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8.Serveur Web Apache (VM)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4697500" y="1853850"/>
            <a:ext cx="3844500" cy="30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9.Câblage, adressage (réel)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10.Configuration VLAN, DHCP, DNS, ACL, NAT(réel)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11.Serveur Web Apache (réel)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12.Ping, Capture de trames (réel)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1.Gant </a:t>
            </a:r>
            <a:endParaRPr/>
          </a:p>
        </p:txBody>
      </p:sp>
      <p:pic>
        <p:nvPicPr>
          <p:cNvPr id="101" name="Google Shape;1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525" y="2378275"/>
            <a:ext cx="6590074" cy="250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7574" y="240375"/>
            <a:ext cx="4431650" cy="261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2.Matrice RACI </a:t>
            </a:r>
            <a:endParaRPr/>
          </a:p>
        </p:txBody>
      </p:sp>
      <p:pic>
        <p:nvPicPr>
          <p:cNvPr id="108" name="Google Shape;10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025" y="2192300"/>
            <a:ext cx="5686425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6"/>
          <p:cNvSpPr txBox="1"/>
          <p:nvPr/>
        </p:nvSpPr>
        <p:spPr>
          <a:xfrm>
            <a:off x="6770525" y="2873600"/>
            <a:ext cx="228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/>
              <a:t>R = Responsable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/>
              <a:t>A = Autorité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/>
              <a:t>C = Consultant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/>
              <a:t>I = Informé</a:t>
            </a:r>
            <a:endParaRPr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3.Recherche Matérielle </a:t>
            </a:r>
            <a:endParaRPr/>
          </a:p>
        </p:txBody>
      </p:sp>
      <p:sp>
        <p:nvSpPr>
          <p:cNvPr id="115" name="Google Shape;115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Matérielle requis 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Plus d’informations sur le matérielle utiliser dans le </a:t>
            </a:r>
            <a:r>
              <a:rPr lang="fr"/>
              <a:t>rapport</a:t>
            </a:r>
            <a:r>
              <a:rPr lang="fr"/>
              <a:t> final </a:t>
            </a:r>
            <a:r>
              <a:rPr lang="fr"/>
              <a:t>disponible</a:t>
            </a:r>
            <a:r>
              <a:rPr lang="fr"/>
              <a:t> sur le moodle.</a:t>
            </a:r>
            <a:endParaRPr/>
          </a:p>
        </p:txBody>
      </p:sp>
      <p:pic>
        <p:nvPicPr>
          <p:cNvPr id="116" name="Google Shape;11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3150" y="2131825"/>
            <a:ext cx="4457700" cy="143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4.Draw.io </a:t>
            </a:r>
            <a:endParaRPr/>
          </a:p>
        </p:txBody>
      </p:sp>
      <p:pic>
        <p:nvPicPr>
          <p:cNvPr id="122" name="Google Shape;12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5925" y="592400"/>
            <a:ext cx="5208449" cy="4374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5.Maquette Cisco </a:t>
            </a:r>
            <a:endParaRPr/>
          </a:p>
        </p:txBody>
      </p:sp>
      <p:pic>
        <p:nvPicPr>
          <p:cNvPr id="128" name="Google Shape;12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8913" y="778475"/>
            <a:ext cx="4858883" cy="298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9"/>
          <p:cNvSpPr txBox="1"/>
          <p:nvPr/>
        </p:nvSpPr>
        <p:spPr>
          <a:xfrm>
            <a:off x="338400" y="2742025"/>
            <a:ext cx="47088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 u="sng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fr" sz="800" u="sng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IP Machines Clientes et VLAN :</a:t>
            </a:r>
            <a:r>
              <a:rPr lang="fr" sz="8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8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			</a:t>
            </a:r>
            <a:endParaRPr sz="8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VLAN 10</a:t>
            </a:r>
            <a:r>
              <a:rPr lang="fr" sz="8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-&gt; </a:t>
            </a:r>
            <a:r>
              <a:rPr lang="fr" sz="800">
                <a:latin typeface="Courier New"/>
                <a:ea typeface="Courier New"/>
                <a:cs typeface="Courier New"/>
                <a:sym typeface="Courier New"/>
              </a:rPr>
              <a:t>192.168.10.0</a:t>
            </a:r>
            <a:r>
              <a:rPr lang="fr" sz="8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			</a:t>
            </a:r>
            <a:r>
              <a:rPr b="1" lang="fr" sz="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VLAN 20</a:t>
            </a:r>
            <a:r>
              <a:rPr lang="fr" sz="8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-&gt; </a:t>
            </a:r>
            <a:r>
              <a:rPr lang="fr" sz="800">
                <a:latin typeface="Courier New"/>
                <a:ea typeface="Courier New"/>
                <a:cs typeface="Courier New"/>
                <a:sym typeface="Courier New"/>
              </a:rPr>
              <a:t>192.168.20.0</a:t>
            </a:r>
            <a:r>
              <a:rPr lang="fr" sz="8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 sz="8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	g0/0.10 : </a:t>
            </a:r>
            <a:r>
              <a:rPr lang="fr" sz="800">
                <a:latin typeface="Courier New"/>
                <a:ea typeface="Courier New"/>
                <a:cs typeface="Courier New"/>
                <a:sym typeface="Courier New"/>
              </a:rPr>
              <a:t>192.168.10.1</a:t>
            </a:r>
            <a:r>
              <a:rPr lang="fr" sz="8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			g0/0.20 : </a:t>
            </a:r>
            <a:r>
              <a:rPr lang="fr" sz="800">
                <a:latin typeface="Courier New"/>
                <a:ea typeface="Courier New"/>
                <a:cs typeface="Courier New"/>
                <a:sym typeface="Courier New"/>
              </a:rPr>
              <a:t>192.168.20.1</a:t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PC0 :</a:t>
            </a:r>
            <a:r>
              <a:rPr lang="fr" sz="800">
                <a:latin typeface="Courier New"/>
                <a:ea typeface="Courier New"/>
                <a:cs typeface="Courier New"/>
                <a:sym typeface="Courier New"/>
              </a:rPr>
              <a:t> 192.168.10.2</a:t>
            </a:r>
            <a:r>
              <a:rPr lang="fr" sz="8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				PC1 : </a:t>
            </a:r>
            <a:r>
              <a:rPr lang="fr" sz="800">
                <a:latin typeface="Courier New"/>
                <a:ea typeface="Courier New"/>
                <a:cs typeface="Courier New"/>
                <a:sym typeface="Courier New"/>
              </a:rPr>
              <a:t>192.168.20.2</a:t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WEB : </a:t>
            </a:r>
            <a:r>
              <a:rPr lang="fr" sz="800">
                <a:latin typeface="Courier New"/>
                <a:ea typeface="Courier New"/>
                <a:cs typeface="Courier New"/>
                <a:sym typeface="Courier New"/>
              </a:rPr>
              <a:t>192.168.10.3</a:t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VLAN 30</a:t>
            </a:r>
            <a:r>
              <a:rPr lang="fr" sz="8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-&gt; </a:t>
            </a:r>
            <a:r>
              <a:rPr lang="fr" sz="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192.168.30.0</a:t>
            </a:r>
            <a:r>
              <a:rPr lang="fr" sz="8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			</a:t>
            </a:r>
            <a:r>
              <a:rPr b="1" lang="fr" sz="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VLAN 40</a:t>
            </a:r>
            <a:r>
              <a:rPr lang="fr" sz="8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-&gt; </a:t>
            </a:r>
            <a:r>
              <a:rPr lang="fr" sz="800">
                <a:latin typeface="Courier New"/>
                <a:ea typeface="Courier New"/>
                <a:cs typeface="Courier New"/>
                <a:sym typeface="Courier New"/>
              </a:rPr>
              <a:t>192.168.40.0</a:t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fr" sz="8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g0/0.30 :</a:t>
            </a:r>
            <a:r>
              <a:rPr lang="fr" sz="800">
                <a:latin typeface="Courier New"/>
                <a:ea typeface="Courier New"/>
                <a:cs typeface="Courier New"/>
                <a:sym typeface="Courier New"/>
              </a:rPr>
              <a:t> 192.168.30.1			</a:t>
            </a:r>
            <a:r>
              <a:rPr lang="fr" sz="8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g0/0.40 :</a:t>
            </a:r>
            <a:r>
              <a:rPr lang="fr" sz="800">
                <a:latin typeface="Courier New"/>
                <a:ea typeface="Courier New"/>
                <a:cs typeface="Courier New"/>
                <a:sym typeface="Courier New"/>
              </a:rPr>
              <a:t> 192.168.40.1</a:t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PC2 :</a:t>
            </a:r>
            <a:r>
              <a:rPr lang="fr" sz="800">
                <a:latin typeface="Courier New"/>
                <a:ea typeface="Courier New"/>
                <a:cs typeface="Courier New"/>
                <a:sym typeface="Courier New"/>
              </a:rPr>
              <a:t> 192.168.30.2</a:t>
            </a:r>
            <a:r>
              <a:rPr lang="fr" sz="8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				PC3 :</a:t>
            </a:r>
            <a:r>
              <a:rPr lang="fr" sz="800">
                <a:latin typeface="Courier New"/>
                <a:ea typeface="Courier New"/>
                <a:cs typeface="Courier New"/>
                <a:sym typeface="Courier New"/>
              </a:rPr>
              <a:t> 192.168.40.2</a:t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6.Configuration VLAN, DNS, DHCP, ACL, (Cisco)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0"/>
          <p:cNvSpPr txBox="1"/>
          <p:nvPr/>
        </p:nvSpPr>
        <p:spPr>
          <a:xfrm>
            <a:off x="1012025" y="2049575"/>
            <a:ext cx="2611800" cy="27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 u="sng"/>
              <a:t>Switch :</a:t>
            </a:r>
            <a:r>
              <a:rPr b="1" lang="fr" sz="1800"/>
              <a:t>           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vlan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name ADMIN</a:t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vlan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20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name PERSONNEL			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vlan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30				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name PRODUCTION</a:t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vlan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40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name VIDEO</a:t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" name="Google Shape;136;p20"/>
          <p:cNvSpPr txBox="1"/>
          <p:nvPr/>
        </p:nvSpPr>
        <p:spPr>
          <a:xfrm>
            <a:off x="3159650" y="2393375"/>
            <a:ext cx="2977500" cy="23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FastEthernet 0/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switchport access Vlan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switchport mode access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FastEthernet 0/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switchport access Vlan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switchport mode access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FastEthernet 0/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switchport access Vlan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20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					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7" name="Google Shape;137;p20"/>
          <p:cNvSpPr txBox="1"/>
          <p:nvPr/>
        </p:nvSpPr>
        <p:spPr>
          <a:xfrm>
            <a:off x="5899125" y="2393375"/>
            <a:ext cx="30000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FastEthernet 0/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switchport access Vlan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30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switchport mode access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FastEthernet 0/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switchport access Vlan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40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switchport mode access</a:t>
            </a:r>
            <a:endParaRPr sz="13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FastEthernet 0/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switchport mode trunk</a:t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>
            <p:ph idx="1" type="body"/>
          </p:nvPr>
        </p:nvSpPr>
        <p:spPr>
          <a:xfrm>
            <a:off x="625400" y="1392725"/>
            <a:ext cx="7688700" cy="29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Routeur :</a:t>
            </a:r>
            <a:r>
              <a:rPr lang="f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Configuration en mode trunk, et DHCP, DNS             </a:t>
            </a:r>
            <a:endParaRPr b="1" sz="1800" u="sng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 u="sng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ip dhcp pool VLAN </a:t>
            </a:r>
            <a:r>
              <a:rPr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network</a:t>
            </a:r>
            <a:r>
              <a:rPr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192.168.10.0 255.255.255.0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default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-router </a:t>
            </a:r>
            <a:r>
              <a:rPr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192.168.10.1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ip dhcp pool VLAN </a:t>
            </a:r>
            <a:r>
              <a:rPr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network </a:t>
            </a:r>
            <a:r>
              <a:rPr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192.168.20.0 255.255.255.0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default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-router </a:t>
            </a:r>
            <a:r>
              <a:rPr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192.168.20.1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								 </a:t>
            </a:r>
            <a:r>
              <a:rPr b="1"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</a:t>
            </a:r>
            <a:r>
              <a:rPr b="1"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</a:t>
            </a:r>
            <a:endParaRPr b="1"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ip dhcp pool VLAN </a:t>
            </a:r>
            <a:r>
              <a:rPr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30						 </a:t>
            </a:r>
            <a:r>
              <a:rPr b="1"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endParaRPr b="1"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network </a:t>
            </a:r>
            <a:r>
              <a:rPr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192.168.30.0 255.255.255.0			  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default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-router </a:t>
            </a:r>
            <a:r>
              <a:rPr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192.168.30.1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ip dhcp pool VLAN </a:t>
            </a:r>
            <a:r>
              <a:rPr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40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network </a:t>
            </a:r>
            <a:r>
              <a:rPr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192.168.40.0 255.255.255.0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default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-router </a:t>
            </a:r>
            <a:r>
              <a:rPr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192.168.40.1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1"/>
          <p:cNvSpPr txBox="1"/>
          <p:nvPr/>
        </p:nvSpPr>
        <p:spPr>
          <a:xfrm>
            <a:off x="4572000" y="926825"/>
            <a:ext cx="50247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 </a:t>
            </a: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GigabitEthernet0/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no ip address</a:t>
            </a:r>
            <a:endParaRPr sz="10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duplex auto</a:t>
            </a:r>
            <a:endParaRPr sz="10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speed auto</a:t>
            </a:r>
            <a:endParaRPr sz="10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b="1"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GigabitEthernet0/0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.1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encapsulation dot1Q 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ip address 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192.168.10.1 255.255.255.0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ip access-group 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in</a:t>
            </a:r>
            <a:endParaRPr sz="10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GigabitEthernet0/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0.2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encapsulation dot1Q 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20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ip address 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192.168.20.1 255.255.255.0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ip access-group 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in</a:t>
            </a:r>
            <a:endParaRPr sz="10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 </a:t>
            </a: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GigabitEthernet0/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0.3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encapsulation dot1Q 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30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ip address 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192.168.30.1 255.255.255.0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ip access-group 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30</a:t>
            </a: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in</a:t>
            </a:r>
            <a:endParaRPr sz="10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1890050" y="190280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GigabitEthernet0/</a:t>
            </a:r>
            <a:r>
              <a:rPr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0.4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encapsulation dot1Q </a:t>
            </a:r>
            <a:r>
              <a:rPr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40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ip address</a:t>
            </a:r>
            <a:r>
              <a:rPr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192.168.40.1 255.255.255.0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ip access-group </a:t>
            </a:r>
            <a:r>
              <a:rPr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40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in</a:t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access-list </a:t>
            </a:r>
            <a:r>
              <a:rPr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permit </a:t>
            </a:r>
            <a:r>
              <a:rPr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192.168.10.0 0.0.0.255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access-list </a:t>
            </a:r>
            <a:r>
              <a:rPr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permit </a:t>
            </a:r>
            <a:r>
              <a:rPr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192.168.20.0 0.0.0.255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access-list </a:t>
            </a:r>
            <a:r>
              <a:rPr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30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permit </a:t>
            </a:r>
            <a:r>
              <a:rPr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192.168.30.0 0.0.0.255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access-list </a:t>
            </a:r>
            <a:r>
              <a:rPr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40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permit </a:t>
            </a:r>
            <a:r>
              <a:rPr lang="fr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192.168.40.0 0.0.0.255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>
            <p:ph type="title"/>
          </p:nvPr>
        </p:nvSpPr>
        <p:spPr>
          <a:xfrm>
            <a:off x="369275" y="5662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7.Ping (Cisco) </a:t>
            </a:r>
            <a:endParaRPr/>
          </a:p>
        </p:txBody>
      </p:sp>
      <p:pic>
        <p:nvPicPr>
          <p:cNvPr id="154" name="Google Shape;15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285" y="1797450"/>
            <a:ext cx="3233339" cy="321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3"/>
          <p:cNvSpPr txBox="1"/>
          <p:nvPr/>
        </p:nvSpPr>
        <p:spPr>
          <a:xfrm>
            <a:off x="434900" y="1455725"/>
            <a:ext cx="29775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Routeur vers client :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6" name="Google Shape;156;p23"/>
          <p:cNvSpPr txBox="1"/>
          <p:nvPr/>
        </p:nvSpPr>
        <p:spPr>
          <a:xfrm>
            <a:off x="3412400" y="765275"/>
            <a:ext cx="1641000" cy="4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Client vers routeur :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7" name="Google Shape;15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53025" y="1250375"/>
            <a:ext cx="3149875" cy="376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69280" y="1250375"/>
            <a:ext cx="3308121" cy="363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3"/>
          <p:cNvSpPr txBox="1"/>
          <p:nvPr/>
        </p:nvSpPr>
        <p:spPr>
          <a:xfrm>
            <a:off x="6752125" y="826550"/>
            <a:ext cx="15429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Client vers client: 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/>
          <p:nvPr>
            <p:ph type="title"/>
          </p:nvPr>
        </p:nvSpPr>
        <p:spPr>
          <a:xfrm>
            <a:off x="453925" y="6180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8</a:t>
            </a:r>
            <a:r>
              <a:rPr lang="fr"/>
              <a:t>.Serveur Apache (VM) </a:t>
            </a:r>
            <a:endParaRPr/>
          </a:p>
        </p:txBody>
      </p:sp>
      <p:sp>
        <p:nvSpPr>
          <p:cNvPr id="165" name="Google Shape;165;p24"/>
          <p:cNvSpPr txBox="1"/>
          <p:nvPr>
            <p:ph idx="1" type="body"/>
          </p:nvPr>
        </p:nvSpPr>
        <p:spPr>
          <a:xfrm>
            <a:off x="477550" y="1433300"/>
            <a:ext cx="3842400" cy="15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 u="sng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Installation du serveur Apache : </a:t>
            </a:r>
            <a:endParaRPr b="1" sz="1200" u="sng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iberation Serif"/>
              <a:ea typeface="Liberation Serif"/>
              <a:cs typeface="Liberation Serif"/>
              <a:sym typeface="Liberation Serif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sudo apt update</a:t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sudo apt install apache2</a:t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849" y="2425550"/>
            <a:ext cx="4596976" cy="156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4"/>
          <p:cNvSpPr txBox="1"/>
          <p:nvPr/>
        </p:nvSpPr>
        <p:spPr>
          <a:xfrm>
            <a:off x="4962150" y="5696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68" name="Google Shape;16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450" y="4080050"/>
            <a:ext cx="4334600" cy="42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4"/>
          <p:cNvSpPr txBox="1"/>
          <p:nvPr/>
        </p:nvSpPr>
        <p:spPr>
          <a:xfrm>
            <a:off x="5369650" y="1016575"/>
            <a:ext cx="3000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 u="sng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Pour la modification du serveur Apache :</a:t>
            </a:r>
            <a:endParaRPr b="1" sz="1200" u="sng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cd /var/www/html</a:t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sudo -s</a:t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nano index.html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</p:txBody>
      </p:sp>
      <p:pic>
        <p:nvPicPr>
          <p:cNvPr id="170" name="Google Shape;170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33494" y="2571750"/>
            <a:ext cx="3851532" cy="147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 txBox="1"/>
          <p:nvPr>
            <p:ph type="title"/>
          </p:nvPr>
        </p:nvSpPr>
        <p:spPr>
          <a:xfrm>
            <a:off x="727650" y="586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9.</a:t>
            </a:r>
            <a:r>
              <a:rPr lang="fr"/>
              <a:t>Câblage</a:t>
            </a:r>
            <a:r>
              <a:rPr lang="fr"/>
              <a:t>, Adressage (réel) </a:t>
            </a:r>
            <a:endParaRPr/>
          </a:p>
        </p:txBody>
      </p:sp>
      <p:graphicFrame>
        <p:nvGraphicFramePr>
          <p:cNvPr id="176" name="Google Shape;176;p25"/>
          <p:cNvGraphicFramePr/>
          <p:nvPr/>
        </p:nvGraphicFramePr>
        <p:xfrm>
          <a:off x="1512075" y="1361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{44B6E1F6-7C32-4D6B-9103-02199E98D151}</a:tableStyleId>
              </a:tblPr>
              <a:tblGrid>
                <a:gridCol w="2039950"/>
                <a:gridCol w="2039950"/>
                <a:gridCol w="2039950"/>
              </a:tblGrid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/>
                        <a:t>Poste</a:t>
                      </a:r>
                      <a:endParaRPr sz="13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/>
                        <a:t>Switch</a:t>
                      </a:r>
                      <a:endParaRPr sz="1300"/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/>
                        <a:t>Pierre</a:t>
                      </a:r>
                      <a:endParaRPr sz="13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/>
                        <a:t>port 1.5</a:t>
                      </a:r>
                      <a:endParaRPr sz="13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/>
                        <a:t>port 1</a:t>
                      </a:r>
                      <a:endParaRPr sz="1300"/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/>
                        <a:t>Rania</a:t>
                      </a:r>
                      <a:endParaRPr sz="13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/>
                        <a:t>port 4.5</a:t>
                      </a:r>
                      <a:endParaRPr sz="13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/>
                        <a:t>port 4</a:t>
                      </a:r>
                      <a:endParaRPr sz="1300"/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/>
                        <a:t>Remi</a:t>
                      </a:r>
                      <a:endParaRPr sz="13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/>
                        <a:t>port 3.5</a:t>
                      </a:r>
                      <a:endParaRPr sz="13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/>
                        <a:t>port 3</a:t>
                      </a:r>
                      <a:endParaRPr sz="1300"/>
                    </a:p>
                  </a:txBody>
                  <a:tcPr marT="63500" marB="63500" marR="63500" marL="63500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/>
                        <a:t>Mathis</a:t>
                      </a:r>
                      <a:endParaRPr sz="13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/>
                        <a:t>port 2.5</a:t>
                      </a:r>
                      <a:endParaRPr sz="13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/>
                        <a:t>port 2</a:t>
                      </a:r>
                      <a:endParaRPr sz="1300"/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  <p:graphicFrame>
        <p:nvGraphicFramePr>
          <p:cNvPr id="177" name="Google Shape;177;p25"/>
          <p:cNvGraphicFramePr/>
          <p:nvPr/>
        </p:nvGraphicFramePr>
        <p:xfrm>
          <a:off x="1600200" y="3420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{44B6E1F6-7C32-4D6B-9103-02199E98D151}</a:tableStyleId>
              </a:tblPr>
              <a:tblGrid>
                <a:gridCol w="2971800"/>
                <a:gridCol w="2971800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/>
                        <a:t>Switch</a:t>
                      </a:r>
                      <a:endParaRPr sz="13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/>
                        <a:t>Routeur </a:t>
                      </a:r>
                      <a:endParaRPr sz="1300"/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/>
                        <a:t>g0/1</a:t>
                      </a:r>
                      <a:endParaRPr sz="13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/>
                        <a:t>g0/0</a:t>
                      </a:r>
                      <a:endParaRPr sz="1300"/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Adressage :</a:t>
            </a:r>
            <a:endParaRPr/>
          </a:p>
        </p:txBody>
      </p:sp>
      <p:sp>
        <p:nvSpPr>
          <p:cNvPr id="183" name="Google Shape;183;p26"/>
          <p:cNvSpPr txBox="1"/>
          <p:nvPr/>
        </p:nvSpPr>
        <p:spPr>
          <a:xfrm>
            <a:off x="1344450" y="2070325"/>
            <a:ext cx="6455100" cy="23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 u="sng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IP Machines Clientes et VLAN :</a:t>
            </a:r>
            <a:r>
              <a:rPr lang="fr" sz="13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3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			</a:t>
            </a:r>
            <a:endParaRPr sz="13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VLAN 10</a:t>
            </a:r>
            <a:r>
              <a:rPr lang="fr" sz="13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-&gt; </a:t>
            </a:r>
            <a:r>
              <a:rPr lang="fr" sz="1300">
                <a:latin typeface="Courier New"/>
                <a:ea typeface="Courier New"/>
                <a:cs typeface="Courier New"/>
                <a:sym typeface="Courier New"/>
              </a:rPr>
              <a:t>192.168.10.0</a:t>
            </a:r>
            <a:r>
              <a:rPr lang="fr" sz="13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			</a:t>
            </a:r>
            <a:r>
              <a:rPr b="1" lang="fr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VLAN 20</a:t>
            </a:r>
            <a:r>
              <a:rPr lang="fr" sz="13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-&gt; </a:t>
            </a:r>
            <a:r>
              <a:rPr lang="fr" sz="1300">
                <a:latin typeface="Courier New"/>
                <a:ea typeface="Courier New"/>
                <a:cs typeface="Courier New"/>
                <a:sym typeface="Courier New"/>
              </a:rPr>
              <a:t>192.168.20.0</a:t>
            </a:r>
            <a:r>
              <a:rPr lang="fr" sz="13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 sz="13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	g0/0.10 : </a:t>
            </a:r>
            <a:r>
              <a:rPr lang="fr" sz="1300">
                <a:latin typeface="Courier New"/>
                <a:ea typeface="Courier New"/>
                <a:cs typeface="Courier New"/>
                <a:sym typeface="Courier New"/>
              </a:rPr>
              <a:t>192.168.10.1</a:t>
            </a:r>
            <a:r>
              <a:rPr lang="fr" sz="13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			g0/0.20 : </a:t>
            </a:r>
            <a:r>
              <a:rPr lang="fr" sz="1300">
                <a:latin typeface="Courier New"/>
                <a:ea typeface="Courier New"/>
                <a:cs typeface="Courier New"/>
                <a:sym typeface="Courier New"/>
              </a:rPr>
              <a:t>192.168.20.1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PC0 :</a:t>
            </a:r>
            <a:r>
              <a:rPr lang="fr" sz="1300">
                <a:latin typeface="Courier New"/>
                <a:ea typeface="Courier New"/>
                <a:cs typeface="Courier New"/>
                <a:sym typeface="Courier New"/>
              </a:rPr>
              <a:t> 192.168.10.2</a:t>
            </a:r>
            <a:r>
              <a:rPr lang="fr" sz="13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				PC1 : </a:t>
            </a:r>
            <a:r>
              <a:rPr lang="fr" sz="1300">
                <a:latin typeface="Courier New"/>
                <a:ea typeface="Courier New"/>
                <a:cs typeface="Courier New"/>
                <a:sym typeface="Courier New"/>
              </a:rPr>
              <a:t>192.168.20.3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WEB : </a:t>
            </a:r>
            <a:r>
              <a:rPr lang="fr" sz="1300">
                <a:latin typeface="Courier New"/>
                <a:ea typeface="Courier New"/>
                <a:cs typeface="Courier New"/>
                <a:sym typeface="Courier New"/>
              </a:rPr>
              <a:t>192.168.10.3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VLAN 30</a:t>
            </a:r>
            <a:r>
              <a:rPr lang="fr" sz="13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-&gt; </a:t>
            </a:r>
            <a:r>
              <a:rPr lang="fr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192.168.30.0</a:t>
            </a:r>
            <a:r>
              <a:rPr lang="fr" sz="13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			</a:t>
            </a:r>
            <a:r>
              <a:rPr b="1" lang="fr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VLAN 40</a:t>
            </a:r>
            <a:r>
              <a:rPr lang="fr" sz="13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-&gt; </a:t>
            </a:r>
            <a:r>
              <a:rPr lang="fr" sz="1300">
                <a:latin typeface="Courier New"/>
                <a:ea typeface="Courier New"/>
                <a:cs typeface="Courier New"/>
                <a:sym typeface="Courier New"/>
              </a:rPr>
              <a:t>192.168.40.0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fr" sz="13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g0/0.30 :</a:t>
            </a:r>
            <a:r>
              <a:rPr lang="fr" sz="1300">
                <a:latin typeface="Courier New"/>
                <a:ea typeface="Courier New"/>
                <a:cs typeface="Courier New"/>
                <a:sym typeface="Courier New"/>
              </a:rPr>
              <a:t> 192.168.30.1			</a:t>
            </a:r>
            <a:r>
              <a:rPr lang="fr" sz="13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g0/0.40 :</a:t>
            </a:r>
            <a:r>
              <a:rPr lang="fr" sz="1300">
                <a:latin typeface="Courier New"/>
                <a:ea typeface="Courier New"/>
                <a:cs typeface="Courier New"/>
                <a:sym typeface="Courier New"/>
              </a:rPr>
              <a:t> 192.168.40.1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PC2 :</a:t>
            </a:r>
            <a:r>
              <a:rPr lang="fr" sz="1300">
                <a:latin typeface="Courier New"/>
                <a:ea typeface="Courier New"/>
                <a:cs typeface="Courier New"/>
                <a:sym typeface="Courier New"/>
              </a:rPr>
              <a:t> 192.168.30.3 </a:t>
            </a:r>
            <a:r>
              <a:rPr lang="fr" sz="13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			PC3 :</a:t>
            </a:r>
            <a:r>
              <a:rPr lang="fr" sz="1300">
                <a:latin typeface="Courier New"/>
                <a:ea typeface="Courier New"/>
                <a:cs typeface="Courier New"/>
                <a:sym typeface="Courier New"/>
              </a:rPr>
              <a:t> 192.168.40.2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7"/>
          <p:cNvSpPr txBox="1"/>
          <p:nvPr>
            <p:ph type="title"/>
          </p:nvPr>
        </p:nvSpPr>
        <p:spPr>
          <a:xfrm>
            <a:off x="727650" y="6416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10.Configuration VLAN, DNS, DHCP, ACL, NAT </a:t>
            </a:r>
            <a:endParaRPr/>
          </a:p>
        </p:txBody>
      </p:sp>
      <p:sp>
        <p:nvSpPr>
          <p:cNvPr id="189" name="Google Shape;189;p27"/>
          <p:cNvSpPr txBox="1"/>
          <p:nvPr/>
        </p:nvSpPr>
        <p:spPr>
          <a:xfrm>
            <a:off x="598275" y="1834125"/>
            <a:ext cx="4062000" cy="24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 u="sng"/>
              <a:t>Switch :</a:t>
            </a:r>
            <a:r>
              <a:rPr b="1" lang="fr" sz="1800"/>
              <a:t>           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vlan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name ADMIN</a:t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vlan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20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name PERSONNEL						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vlan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30							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name PRODUCTION</a:t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vlan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40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name VIDEO</a:t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0" name="Google Shape;190;p27"/>
          <p:cNvSpPr txBox="1"/>
          <p:nvPr/>
        </p:nvSpPr>
        <p:spPr>
          <a:xfrm>
            <a:off x="2781625" y="1792575"/>
            <a:ext cx="30000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FastEthernet 0/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switchport access Vlan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switchport mode access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FastEthernet 0/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switchport access Vlan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20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switchport mode access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FastEthernet 0/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switchport access Vlan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30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switchport mode access	</a:t>
            </a:r>
            <a:endParaRPr/>
          </a:p>
        </p:txBody>
      </p:sp>
      <p:sp>
        <p:nvSpPr>
          <p:cNvPr id="191" name="Google Shape;191;p27"/>
          <p:cNvSpPr txBox="1"/>
          <p:nvPr/>
        </p:nvSpPr>
        <p:spPr>
          <a:xfrm>
            <a:off x="5657700" y="1898775"/>
            <a:ext cx="3000000" cy="22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FastEthernet 0/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switchport access Vlan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40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switchport mode access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FastEthernet 0/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switchport access Vlan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switchport mode access</a:t>
            </a:r>
            <a:endParaRPr sz="13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Gigabit g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0/1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switchport mode trunk</a:t>
            </a:r>
            <a:endParaRPr b="1"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 txBox="1"/>
          <p:nvPr/>
        </p:nvSpPr>
        <p:spPr>
          <a:xfrm>
            <a:off x="259775" y="739950"/>
            <a:ext cx="4374900" cy="40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 u="sng"/>
              <a:t>Routeur </a:t>
            </a:r>
            <a:r>
              <a:rPr lang="fr" sz="1100"/>
              <a:t>   -   Configuration en mode trunk, et  DHCP, DNS	               </a:t>
            </a:r>
            <a:endParaRPr b="1" sz="1600" u="sng"/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 u="sng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ip dhcp pool VLAN 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network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 192.168.10.0 255.255.255.0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default</a:t>
            </a: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-router 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192.168.10.1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1000">
                <a:solidFill>
                  <a:srgbClr val="3C78D8"/>
                </a:solidFill>
                <a:latin typeface="Courier New"/>
                <a:ea typeface="Courier New"/>
                <a:cs typeface="Courier New"/>
                <a:sym typeface="Courier New"/>
              </a:rPr>
              <a:t>dns-server 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10.0.0.1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ip dhcp pool VLAN 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20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network 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192.168.20.0 255.255.255.0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default</a:t>
            </a: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-router 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192.168.20.1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1000">
                <a:solidFill>
                  <a:srgbClr val="3C78D8"/>
                </a:solidFill>
                <a:latin typeface="Courier New"/>
                <a:ea typeface="Courier New"/>
                <a:cs typeface="Courier New"/>
                <a:sym typeface="Courier New"/>
              </a:rPr>
              <a:t>dns-server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 10.0.0.1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								 </a:t>
            </a:r>
            <a:r>
              <a:rPr b="1" lang="fr" sz="10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                    </a:t>
            </a:r>
            <a:r>
              <a:rPr b="1" lang="fr" sz="1000">
                <a:latin typeface="Courier New"/>
                <a:ea typeface="Courier New"/>
                <a:cs typeface="Courier New"/>
                <a:sym typeface="Courier New"/>
              </a:rPr>
              <a:t>                 </a:t>
            </a:r>
            <a:endParaRPr b="1"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ip dhcp pool VLAN 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30						 </a:t>
            </a:r>
            <a:r>
              <a:rPr b="1" lang="fr" sz="1000"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endParaRPr b="1"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network 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192.168.30.0 255.255.255.0			  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default</a:t>
            </a: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-router 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192.168.30.1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1000">
                <a:solidFill>
                  <a:srgbClr val="3C78D8"/>
                </a:solidFill>
                <a:latin typeface="Courier New"/>
                <a:ea typeface="Courier New"/>
                <a:cs typeface="Courier New"/>
                <a:sym typeface="Courier New"/>
              </a:rPr>
              <a:t>dns-server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 10.0.0.1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ip dhcp pool VLAN 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40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network 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192.168.40.0 255.255.255.0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default</a:t>
            </a: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-router 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192.168.40.1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1000">
                <a:solidFill>
                  <a:srgbClr val="3C78D8"/>
                </a:solidFill>
                <a:latin typeface="Courier New"/>
                <a:ea typeface="Courier New"/>
                <a:cs typeface="Courier New"/>
                <a:sym typeface="Courier New"/>
              </a:rPr>
              <a:t>dns-server</a:t>
            </a: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 10.0.0.1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7" name="Google Shape;197;p28"/>
          <p:cNvSpPr txBox="1"/>
          <p:nvPr/>
        </p:nvSpPr>
        <p:spPr>
          <a:xfrm>
            <a:off x="4741725" y="1414050"/>
            <a:ext cx="3671400" cy="3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 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GigabitEthernet0/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0 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no ip address</a:t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duplex auto</a:t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speed auto</a:t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b="1"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GigabitEthernet0/0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.1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encapsulation dot1Q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ip address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192.168.10.1 255.255.255.0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ip access-group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in</a:t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GigabitEthernet0/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0.2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encapsulation dot1Q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20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ip address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192.168.20.1 255.255.255.0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ip access-group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in</a:t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9"/>
          <p:cNvSpPr txBox="1"/>
          <p:nvPr/>
        </p:nvSpPr>
        <p:spPr>
          <a:xfrm>
            <a:off x="1834125" y="747825"/>
            <a:ext cx="5571300" cy="39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 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GigabitEthernet0/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0.3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encapsulation dot1Q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30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ip address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192.168.30.1 255.255.255.0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ip access-group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30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in</a:t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GigabitEthernet0/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0.4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encapsulation dot1Q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40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ip address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 192.168.40.1 255.255.255.0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ip access-group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40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in</a:t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access-list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permit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192.168.10.0 0.0.0.255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access-list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permit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192.168.20.0 0.0.0.255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access-list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30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permit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192.168.30.0 0.0.0.255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access-list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40</a:t>
            </a: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 permit 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192.168.40.0 0.0.0.255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0"/>
          <p:cNvSpPr txBox="1"/>
          <p:nvPr>
            <p:ph type="title"/>
          </p:nvPr>
        </p:nvSpPr>
        <p:spPr>
          <a:xfrm>
            <a:off x="727650" y="53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11.Serveur Web apache (réel)</a:t>
            </a:r>
            <a:endParaRPr/>
          </a:p>
        </p:txBody>
      </p:sp>
      <p:sp>
        <p:nvSpPr>
          <p:cNvPr id="208" name="Google Shape;208;p30"/>
          <p:cNvSpPr txBox="1"/>
          <p:nvPr/>
        </p:nvSpPr>
        <p:spPr>
          <a:xfrm>
            <a:off x="432950" y="1141425"/>
            <a:ext cx="42411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 u="sng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Installation du serveur Apache : </a:t>
            </a:r>
            <a:endParaRPr b="1" sz="1000" u="sng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 u="sng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3C78D8"/>
                </a:solidFill>
                <a:latin typeface="Courier New"/>
                <a:ea typeface="Courier New"/>
                <a:cs typeface="Courier New"/>
                <a:sym typeface="Courier New"/>
              </a:rPr>
              <a:t>export http_proxy=cache-etu.univ-artois.fr:3128</a:t>
            </a:r>
            <a:endParaRPr sz="1000">
              <a:solidFill>
                <a:srgbClr val="3C78D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3C78D8"/>
                </a:solidFill>
                <a:latin typeface="Courier New"/>
                <a:ea typeface="Courier New"/>
                <a:cs typeface="Courier New"/>
                <a:sym typeface="Courier New"/>
              </a:rPr>
              <a:t>export https_proxy=cache-etu.univ-artois.fr:3128</a:t>
            </a:r>
            <a:endParaRPr sz="1000">
              <a:solidFill>
                <a:srgbClr val="3C78D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iberation Serif"/>
              <a:ea typeface="Liberation Serif"/>
              <a:cs typeface="Liberation Serif"/>
              <a:sym typeface="Liberation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sudo apt update</a:t>
            </a:r>
            <a:endParaRPr sz="10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sudo apt install apache2</a:t>
            </a:r>
            <a:endParaRPr sz="10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09" name="Google Shape;20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125" y="2649824"/>
            <a:ext cx="4428781" cy="150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00" y="4293875"/>
            <a:ext cx="4690425" cy="401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0"/>
          <p:cNvSpPr txBox="1"/>
          <p:nvPr/>
        </p:nvSpPr>
        <p:spPr>
          <a:xfrm>
            <a:off x="5723500" y="992500"/>
            <a:ext cx="3000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 u="sng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Pour la modification du serveur Apache :</a:t>
            </a:r>
            <a:endParaRPr b="1" sz="1200" u="sng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cd /var/www/html</a:t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sudo -s</a:t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nano index.html</a:t>
            </a: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12" name="Google Shape;212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21775" y="2571750"/>
            <a:ext cx="3446475" cy="132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12.Ping (réel) </a:t>
            </a:r>
            <a:endParaRPr/>
          </a:p>
        </p:txBody>
      </p:sp>
      <p:pic>
        <p:nvPicPr>
          <p:cNvPr id="218" name="Google Shape;21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6350" y="1919675"/>
            <a:ext cx="5108953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